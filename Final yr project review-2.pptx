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9" r:id="rId2"/>
    <p:sldId id="270" r:id="rId3"/>
    <p:sldId id="261" r:id="rId4"/>
    <p:sldId id="262" r:id="rId5"/>
    <p:sldId id="263" r:id="rId6"/>
    <p:sldId id="265" r:id="rId7"/>
    <p:sldId id="271" r:id="rId8"/>
    <p:sldId id="272" r:id="rId9"/>
    <p:sldId id="273" r:id="rId10"/>
    <p:sldId id="274" r:id="rId11"/>
    <p:sldId id="276" r:id="rId12"/>
    <p:sldId id="275" r:id="rId13"/>
    <p:sldId id="278" r:id="rId14"/>
    <p:sldId id="277" r:id="rId15"/>
    <p:sldId id="267" r:id="rId16"/>
    <p:sldId id="268"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74" d="100"/>
          <a:sy n="74" d="100"/>
        </p:scale>
        <p:origin x="4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03/02/2026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03-02-2026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03-02-2026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03-02-2026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03-02-2026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03-02-2026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03-02-2026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03-02-2026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03-02-2026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03-02-2026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03-02-2026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03-02-2026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03-02-2026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Mr. </a:t>
            </a:r>
            <a:r>
              <a:rPr lang="en-GB" sz="1700" b="1" dirty="0" err="1">
                <a:solidFill>
                  <a:srgbClr val="17365D"/>
                </a:solidFill>
                <a:latin typeface="Cambria" panose="02040503050406030204" pitchFamily="18" charset="0"/>
                <a:ea typeface="Cambria" panose="02040503050406030204" pitchFamily="18" charset="0"/>
                <a:sym typeface="Verdana"/>
              </a:rPr>
              <a:t>Bailappa</a:t>
            </a:r>
            <a:r>
              <a:rPr lang="en-GB" sz="1700" b="1" dirty="0">
                <a:solidFill>
                  <a:srgbClr val="17365D"/>
                </a:solidFill>
                <a:latin typeface="Cambria" panose="02040503050406030204" pitchFamily="18" charset="0"/>
                <a:ea typeface="Cambria" panose="02040503050406030204" pitchFamily="18" charset="0"/>
                <a:sym typeface="Verdana"/>
              </a:rPr>
              <a:t> </a:t>
            </a:r>
            <a:r>
              <a:rPr lang="en-GB" sz="1700" b="1" dirty="0" err="1">
                <a:solidFill>
                  <a:srgbClr val="17365D"/>
                </a:solidFill>
                <a:latin typeface="Cambria" panose="02040503050406030204" pitchFamily="18" charset="0"/>
                <a:ea typeface="Cambria" panose="02040503050406030204" pitchFamily="18" charset="0"/>
                <a:sym typeface="Verdana"/>
              </a:rPr>
              <a:t>Bhovi</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accent1"/>
                </a:solidFill>
                <a:latin typeface="Cambria" panose="02040503050406030204" pitchFamily="18" charset="0"/>
                <a:ea typeface="Cambria" panose="02040503050406030204" pitchFamily="18" charset="0"/>
                <a:cs typeface="Verdana"/>
                <a:sym typeface="Verdana"/>
              </a:rPr>
              <a:t>Capstone Project</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rgbClr val="FF0000"/>
                </a:solidFill>
                <a:latin typeface="Cambria" panose="02040503050406030204" pitchFamily="18" charset="0"/>
                <a:ea typeface="Cambria" panose="02040503050406030204" pitchFamily="18" charset="0"/>
                <a:cs typeface="Verdana"/>
                <a:sym typeface="Verdana"/>
              </a:rPr>
              <a:t>Dr .</a:t>
            </a:r>
            <a:r>
              <a:rPr lang="en-US" sz="2000" b="1" dirty="0" err="1">
                <a:solidFill>
                  <a:srgbClr val="FF0000"/>
                </a:solidFill>
                <a:latin typeface="Cambria" panose="02040503050406030204" pitchFamily="18" charset="0"/>
                <a:ea typeface="Cambria" panose="02040503050406030204" pitchFamily="18" charset="0"/>
                <a:cs typeface="Verdana"/>
                <a:sym typeface="Verdana"/>
              </a:rPr>
              <a:t>Pravinthraja</a:t>
            </a:r>
            <a:r>
              <a:rPr lang="en-US" sz="2000" b="1" dirty="0">
                <a:solidFill>
                  <a:srgbClr val="FF0000"/>
                </a:solidFill>
                <a:latin typeface="Cambria" panose="02040503050406030204" pitchFamily="18" charset="0"/>
                <a:ea typeface="Cambria" panose="02040503050406030204" pitchFamily="18" charset="0"/>
                <a:cs typeface="Verdana"/>
                <a:sym typeface="Verdana"/>
              </a:rPr>
              <a:t> S</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rgbClr val="FF0000"/>
                </a:solidFill>
                <a:latin typeface="Cambria" panose="02040503050406030204" pitchFamily="18" charset="0"/>
                <a:ea typeface="Cambria" panose="02040503050406030204" pitchFamily="18" charset="0"/>
                <a:cs typeface="Verdana"/>
                <a:sym typeface="Verdana"/>
              </a:rPr>
              <a:t>Dr .H M Manjula</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Sampath A K , Dr. Geetha A </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University Project</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b="0" dirty="0">
                <a:solidFill>
                  <a:schemeClr val="accent1"/>
                </a:solidFill>
              </a:rPr>
              <a:t>Al-Based Internship Recommendation Engine for PM Internship Scheme</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3" name="Google Shape;89;p13">
            <a:extLst>
              <a:ext uri="{FF2B5EF4-FFF2-40B4-BE49-F238E27FC236}">
                <a16:creationId xmlns:a16="http://schemas.microsoft.com/office/drawing/2014/main" id="{C7986894-33E1-63C1-7615-F0CCD46E7F7C}"/>
              </a:ext>
            </a:extLst>
          </p:cNvPr>
          <p:cNvGraphicFramePr/>
          <p:nvPr>
            <p:extLst>
              <p:ext uri="{D42A27DB-BD31-4B8C-83A1-F6EECF244321}">
                <p14:modId xmlns:p14="http://schemas.microsoft.com/office/powerpoint/2010/main" val="1108146066"/>
              </p:ext>
            </p:extLst>
          </p:nvPr>
        </p:nvGraphicFramePr>
        <p:xfrm>
          <a:off x="363613" y="1979705"/>
          <a:ext cx="5418675" cy="2194620"/>
        </p:xfrm>
        <a:graphic>
          <a:graphicData uri="http://schemas.openxmlformats.org/drawingml/2006/table">
            <a:tbl>
              <a:tblPr firstRow="1" bandRow="1">
                <a:noFill/>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6317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91229">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9122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9122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9122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9122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4" name="Table 3">
            <a:extLst>
              <a:ext uri="{FF2B5EF4-FFF2-40B4-BE49-F238E27FC236}">
                <a16:creationId xmlns:a16="http://schemas.microsoft.com/office/drawing/2014/main" id="{05D1367D-08A8-C2C7-CF8B-6DC040A8193A}"/>
              </a:ext>
            </a:extLst>
          </p:cNvPr>
          <p:cNvGraphicFramePr>
            <a:graphicFrameLocks noGrp="1"/>
          </p:cNvGraphicFramePr>
          <p:nvPr>
            <p:extLst>
              <p:ext uri="{D42A27DB-BD31-4B8C-83A1-F6EECF244321}">
                <p14:modId xmlns:p14="http://schemas.microsoft.com/office/powerpoint/2010/main" val="3750767459"/>
              </p:ext>
            </p:extLst>
          </p:nvPr>
        </p:nvGraphicFramePr>
        <p:xfrm>
          <a:off x="582129" y="1880786"/>
          <a:ext cx="4671358" cy="2092284"/>
        </p:xfrm>
        <a:graphic>
          <a:graphicData uri="http://schemas.openxmlformats.org/drawingml/2006/table">
            <a:tbl>
              <a:tblPr firstRow="1" bandRow="1">
                <a:tableStyleId>{3C2FFA5D-87B4-456A-9821-1D502468CF0F}</a:tableStyleId>
              </a:tblPr>
              <a:tblGrid>
                <a:gridCol w="1719081">
                  <a:extLst>
                    <a:ext uri="{9D8B030D-6E8A-4147-A177-3AD203B41FA5}">
                      <a16:colId xmlns:a16="http://schemas.microsoft.com/office/drawing/2014/main" val="2233802050"/>
                    </a:ext>
                  </a:extLst>
                </a:gridCol>
                <a:gridCol w="2952277">
                  <a:extLst>
                    <a:ext uri="{9D8B030D-6E8A-4147-A177-3AD203B41FA5}">
                      <a16:colId xmlns:a16="http://schemas.microsoft.com/office/drawing/2014/main" val="3983810530"/>
                    </a:ext>
                  </a:extLst>
                </a:gridCol>
              </a:tblGrid>
              <a:tr h="50827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chemeClr val="bg1"/>
                          </a:solidFill>
                        </a:rPr>
                        <a:t>2</a:t>
                      </a:r>
                      <a:r>
                        <a:rPr lang="en-IN" dirty="0">
                          <a:solidFill>
                            <a:schemeClr val="bg1"/>
                          </a:solidFill>
                        </a:rPr>
                        <a:t>0221CBC0001</a:t>
                      </a: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err="1">
                          <a:solidFill>
                            <a:schemeClr val="bg1"/>
                          </a:solidFill>
                        </a:rPr>
                        <a:t>Cheerla</a:t>
                      </a:r>
                      <a:r>
                        <a:rPr lang="en-US" dirty="0">
                          <a:solidFill>
                            <a:schemeClr val="bg1"/>
                          </a:solidFill>
                        </a:rPr>
                        <a:t> Nithin</a:t>
                      </a:r>
                      <a:endParaRPr lang="en-IN" dirty="0">
                        <a:solidFill>
                          <a:schemeClr val="bg1"/>
                        </a:solidFill>
                      </a:endParaRPr>
                    </a:p>
                    <a:p>
                      <a:endParaRPr lang="en-IN" dirty="0">
                        <a:solidFill>
                          <a:schemeClr val="bg1"/>
                        </a:solidFill>
                      </a:endParaRPr>
                    </a:p>
                  </a:txBody>
                  <a:tcPr>
                    <a:noFill/>
                  </a:tcPr>
                </a:tc>
                <a:extLst>
                  <a:ext uri="{0D108BD9-81ED-4DB2-BD59-A6C34878D82A}">
                    <a16:rowId xmlns:a16="http://schemas.microsoft.com/office/drawing/2014/main" val="1313514758"/>
                  </a:ext>
                </a:extLst>
              </a:tr>
              <a:tr h="7261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bg1"/>
                          </a:solidFill>
                        </a:rPr>
                        <a:t>20221CBC0002</a:t>
                      </a:r>
                    </a:p>
                    <a:p>
                      <a:endParaRPr lang="en-IN" dirty="0">
                        <a:solidFill>
                          <a:schemeClr val="bg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bg1"/>
                          </a:solidFill>
                        </a:rPr>
                        <a:t>Shaik </a:t>
                      </a:r>
                      <a:r>
                        <a:rPr lang="en-US" b="1" dirty="0" err="1">
                          <a:solidFill>
                            <a:schemeClr val="bg1"/>
                          </a:solidFill>
                        </a:rPr>
                        <a:t>Julpin</a:t>
                      </a:r>
                      <a:endParaRPr lang="en-IN" b="1" dirty="0">
                        <a:solidFill>
                          <a:schemeClr val="bg1"/>
                        </a:solidFill>
                      </a:endParaRPr>
                    </a:p>
                    <a:p>
                      <a:endParaRPr lang="en-IN" dirty="0">
                        <a:solidFill>
                          <a:schemeClr val="bg1"/>
                        </a:solidFill>
                      </a:endParaRPr>
                    </a:p>
                  </a:txBody>
                  <a:tcPr>
                    <a:noFill/>
                  </a:tcPr>
                </a:tc>
                <a:extLst>
                  <a:ext uri="{0D108BD9-81ED-4DB2-BD59-A6C34878D82A}">
                    <a16:rowId xmlns:a16="http://schemas.microsoft.com/office/drawing/2014/main" val="3135140864"/>
                  </a:ext>
                </a:extLst>
              </a:tr>
              <a:tr h="7261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bg1"/>
                          </a:solidFill>
                        </a:rPr>
                        <a:t>20221CBC0010</a:t>
                      </a:r>
                      <a:endParaRPr lang="en-IN" b="1" dirty="0">
                        <a:solidFill>
                          <a:schemeClr val="bg1"/>
                        </a:solidFill>
                      </a:endParaRPr>
                    </a:p>
                    <a:p>
                      <a:endParaRPr lang="en-IN" dirty="0">
                        <a:solidFill>
                          <a:schemeClr val="bg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bg1"/>
                          </a:solidFill>
                        </a:rPr>
                        <a:t>Akula Naga Divya Darshini</a:t>
                      </a:r>
                      <a:endParaRPr lang="en-IN" b="1" dirty="0">
                        <a:solidFill>
                          <a:schemeClr val="bg1"/>
                        </a:solidFill>
                      </a:endParaRPr>
                    </a:p>
                    <a:p>
                      <a:endParaRPr lang="en-IN" dirty="0">
                        <a:solidFill>
                          <a:schemeClr val="bg1"/>
                        </a:solidFill>
                      </a:endParaRPr>
                    </a:p>
                  </a:txBody>
                  <a:tcPr>
                    <a:noFill/>
                  </a:tcPr>
                </a:tc>
                <a:extLst>
                  <a:ext uri="{0D108BD9-81ED-4DB2-BD59-A6C34878D82A}">
                    <a16:rowId xmlns:a16="http://schemas.microsoft.com/office/drawing/2014/main" val="2485991551"/>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47500" lnSpcReduction="20000"/>
          </a:bodyPr>
          <a:lstStyle/>
          <a:p>
            <a:pPr>
              <a:lnSpc>
                <a:spcPct val="220000"/>
              </a:lnSpc>
            </a:pPr>
            <a:r>
              <a:rPr lang="en-US" b="1" dirty="0"/>
              <a:t>1. Ministry of Education &amp; PM Internship Scheme</a:t>
            </a:r>
            <a:br>
              <a:rPr lang="en-US" dirty="0"/>
            </a:br>
            <a:r>
              <a:rPr lang="en-US" sz="2100" dirty="0">
                <a:latin typeface="Times New Roman" panose="02020603050405020304" pitchFamily="18" charset="0"/>
                <a:cs typeface="Times New Roman" panose="02020603050405020304" pitchFamily="18" charset="0"/>
              </a:rPr>
              <a:t>The Government of India, through the Ministry of Education and associated national skill development bodies, continuously works toward improving youth employability and industry readiness. The PM Internship Scheme is a flagship initiative designed to provide students with practical exposure, hands-on experience, and skill development opportunities across various sectors. The scheme aims to bridge the gap between academic learning and industry requirements by connecting students with verified internship opportunities from government departments, public sector organizations, and partnered private institutions. This initiative supports the national vision of building a skilled, digitally empowered, and employment-ready workforce</a:t>
            </a:r>
            <a:r>
              <a:rPr lang="en-US" dirty="0"/>
              <a:t>.</a:t>
            </a:r>
          </a:p>
          <a:p>
            <a:pPr>
              <a:lnSpc>
                <a:spcPct val="170000"/>
              </a:lnSpc>
            </a:pPr>
            <a:r>
              <a:rPr lang="en-US" b="1" dirty="0"/>
              <a:t>2. Role of Technology in Supporting the Scheme</a:t>
            </a:r>
            <a:br>
              <a:rPr lang="en-US" dirty="0"/>
            </a:br>
            <a:r>
              <a:rPr lang="en-US" sz="2900" dirty="0">
                <a:latin typeface="Times New Roman" panose="02020603050405020304" pitchFamily="18" charset="0"/>
                <a:cs typeface="Times New Roman" panose="02020603050405020304" pitchFamily="18" charset="0"/>
              </a:rPr>
              <a:t>With the rapid increase in applicants and internship opportunities, manual management and allocation of internships becomes inefficient. Digital platforms powered by Artificial Intelligence can significantly enhance the effectiveness of such schemes by enabling intelligent matching between students and internships. Our proposed AI-based internship recommendation platform supports the objectives of the PM Internship Scheme by automating candidate–internship matching, providing resume analysis, and offering career guidance. This ensures fair access, transparency, and better utilization of internship resources while improving student success rates.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normAutofit fontScale="85000" lnSpcReduction="20000"/>
          </a:bodyPr>
          <a:lstStyle/>
          <a:p>
            <a:pPr>
              <a:lnSpc>
                <a:spcPct val="160000"/>
              </a:lnSpc>
            </a:pPr>
            <a:r>
              <a:rPr lang="en-US" sz="2400" b="1" dirty="0"/>
              <a:t>1. Domain: Artificial Intelligence in Recruitment &amp; Career Guidance</a:t>
            </a:r>
            <a:br>
              <a:rPr lang="en-US" dirty="0"/>
            </a:br>
            <a:r>
              <a:rPr lang="en-US" sz="1700" dirty="0"/>
              <a:t>The project falls under the domain of Artificial Intelligence and Data Science, specifically focusing on intelligent recruitment systems and career recommendation platforms. It uses machine learning and natural language processing (NLP) techniques to analyze resumes, student profiles, and internship descriptions. The system matches students with suitable internships based on skills, interests, education, and experience, making the selection process faster and more accurate.</a:t>
            </a:r>
          </a:p>
          <a:p>
            <a:pPr>
              <a:lnSpc>
                <a:spcPct val="160000"/>
              </a:lnSpc>
            </a:pPr>
            <a:r>
              <a:rPr lang="en-US" sz="2400" b="1" dirty="0"/>
              <a:t>2. Technologies Used</a:t>
            </a:r>
            <a:br>
              <a:rPr lang="en-US" dirty="0"/>
            </a:br>
            <a:r>
              <a:rPr lang="en-US" sz="2100" dirty="0">
                <a:latin typeface="Times New Roman" panose="02020603050405020304" pitchFamily="18" charset="0"/>
                <a:cs typeface="Times New Roman" panose="02020603050405020304" pitchFamily="18" charset="0"/>
              </a:rPr>
              <a:t>The system uses a web-based architecture with frontend technologies such as HTML, CSS, JavaScript, and React.js for building interactive user interfaces. The backend is developed using Node.js and Express.js, while MySQL is used for database management. Python is used for implementing machine learning models such as resume analysis and similarity matching.</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normAutofit/>
          </a:bodyPr>
          <a:lstStyle/>
          <a:p>
            <a:pPr>
              <a:lnSpc>
                <a:spcPct val="150000"/>
              </a:lnSpc>
            </a:pPr>
            <a:r>
              <a:rPr lang="en-US" sz="2000" b="1" dirty="0"/>
              <a:t>1. Team Composition</a:t>
            </a:r>
            <a:br>
              <a:rPr lang="en-US" dirty="0"/>
            </a:br>
            <a:r>
              <a:rPr lang="en-US" sz="1600" dirty="0">
                <a:latin typeface="Times New Roman" panose="02020603050405020304" pitchFamily="18" charset="0"/>
                <a:cs typeface="Times New Roman" panose="02020603050405020304" pitchFamily="18" charset="0"/>
              </a:rPr>
              <a:t>Our team consists of Three engineering students with interests in Artificial Intelligence, Web Development, and Software Engineering. Each member contributes to different aspects of the project such as frontend design, backend development, database handling, and AI model implementation.</a:t>
            </a:r>
          </a:p>
          <a:p>
            <a:pPr>
              <a:lnSpc>
                <a:spcPct val="150000"/>
              </a:lnSpc>
            </a:pPr>
            <a:r>
              <a:rPr lang="en-US" sz="2000" b="1" dirty="0"/>
              <a:t>2. Reporting Manager / Guide</a:t>
            </a:r>
            <a:br>
              <a:rPr lang="en-US" dirty="0"/>
            </a:br>
            <a:r>
              <a:rPr lang="en-US" sz="1600" dirty="0">
                <a:latin typeface="Times New Roman" panose="02020603050405020304" pitchFamily="18" charset="0"/>
                <a:cs typeface="Times New Roman" panose="02020603050405020304" pitchFamily="18" charset="0"/>
              </a:rPr>
              <a:t>The project is carried out under the guidance of a </a:t>
            </a:r>
            <a:r>
              <a:rPr lang="en-US" sz="1600" dirty="0" err="1">
                <a:latin typeface="Times New Roman" panose="02020603050405020304" pitchFamily="18" charset="0"/>
                <a:cs typeface="Times New Roman" panose="02020603050405020304" pitchFamily="18" charset="0"/>
              </a:rPr>
              <a:t>Mr.Dinesh</a:t>
            </a:r>
            <a:r>
              <a:rPr lang="en-US" sz="1600" dirty="0">
                <a:latin typeface="Times New Roman" panose="02020603050405020304" pitchFamily="18" charset="0"/>
                <a:cs typeface="Times New Roman" panose="02020603050405020304" pitchFamily="18" charset="0"/>
              </a:rPr>
              <a:t> mentor who provides continuous technical support and direction. Regular reviews and feedback sessions help in improving project quality and ensuring timely progress.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pPr>
              <a:lnSpc>
                <a:spcPct val="150000"/>
              </a:lnSpc>
            </a:pPr>
            <a:r>
              <a:rPr lang="en-US" sz="2000" b="1" dirty="0"/>
              <a:t>Intelligent Internship Recommendation</a:t>
            </a:r>
            <a:br>
              <a:rPr lang="en-US" dirty="0"/>
            </a:br>
            <a:r>
              <a:rPr lang="en-US" sz="1800" dirty="0">
                <a:latin typeface="Times New Roman" panose="02020603050405020304" pitchFamily="18" charset="0"/>
                <a:cs typeface="Times New Roman" panose="02020603050405020304" pitchFamily="18" charset="0"/>
              </a:rPr>
              <a:t>To develop an AI-based system that recommends suitable internships to students based on their profile and skills.</a:t>
            </a:r>
          </a:p>
          <a:p>
            <a:pPr>
              <a:lnSpc>
                <a:spcPct val="150000"/>
              </a:lnSpc>
            </a:pPr>
            <a:r>
              <a:rPr lang="en-US" sz="2000" b="1" dirty="0"/>
              <a:t>Resume Analysis and ATS Scoring</a:t>
            </a:r>
            <a:br>
              <a:rPr lang="en-US" dirty="0"/>
            </a:br>
            <a:r>
              <a:rPr lang="en-US" sz="1800" dirty="0">
                <a:latin typeface="Times New Roman" panose="02020603050405020304" pitchFamily="18" charset="0"/>
                <a:cs typeface="Times New Roman" panose="02020603050405020304" pitchFamily="18" charset="0"/>
              </a:rPr>
              <a:t>To provide resume evaluation, identify strengths and weaknesses, and give improvement suggestions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fontScale="92500"/>
          </a:bodyPr>
          <a:lstStyle/>
          <a:p>
            <a:pPr>
              <a:lnSpc>
                <a:spcPct val="160000"/>
              </a:lnSpc>
            </a:pPr>
            <a:r>
              <a:rPr lang="en-US" sz="2000" dirty="0">
                <a:latin typeface="Times New Roman" panose="02020603050405020304" pitchFamily="18" charset="0"/>
                <a:cs typeface="Times New Roman" panose="02020603050405020304" pitchFamily="18" charset="0"/>
              </a:rPr>
              <a:t>• Recent studies show that AI and NLP are widely used for resume analysis and job/internship matching.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Transformer-based models such as BERT and Sentence-BERT provide better semantic matching than keyword-based systems.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Hybrid recommendation systems improve personalization and accuracy.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ATS score prediction models simulate how companies shortlist resumes.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Most existing systems are recruiter-focused and not student-centric.</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There is limited research on integrated internship recommendation with resume feedback for students.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 AI-based platform for recommending internships based on student profile and resume.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Uses machine learning and NLP for intelligent matching.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Includes resume analyzer and ATS score checker.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Provides strengths, weaknesses, and improvement suggestions.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Supports PM Internship Scheme objectives.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Improves matching accuracy and student preparedness.</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Students struggle to find suitable internships.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Lack of personalized internship guidance.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Students are unaware if resumes are ATS-friendly.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High rejection rate due to poor resume quality.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Need for unified intelligent system.</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lstStyle/>
          <a:p>
            <a:r>
              <a:rPr lang="en-US" sz="2400" dirty="0">
                <a:latin typeface="Times New Roman" panose="02020603050405020304" pitchFamily="18" charset="0"/>
                <a:cs typeface="Times New Roman" panose="02020603050405020304" pitchFamily="18" charset="0"/>
              </a:rPr>
              <a:t>Software Requirements:</a:t>
            </a:r>
          </a:p>
          <a:p>
            <a:pPr marL="0" indent="0">
              <a:buNone/>
            </a:pPr>
            <a:r>
              <a:rPr lang="en-US" sz="2000" dirty="0">
                <a:latin typeface="Times New Roman" panose="02020603050405020304" pitchFamily="18" charset="0"/>
                <a:cs typeface="Times New Roman" panose="02020603050405020304" pitchFamily="18" charset="0"/>
              </a:rPr>
              <a:t>1.Operating </a:t>
            </a:r>
            <a:r>
              <a:rPr lang="en-US" sz="2000" dirty="0" err="1">
                <a:latin typeface="Times New Roman" panose="02020603050405020304" pitchFamily="18" charset="0"/>
                <a:cs typeface="Times New Roman" panose="02020603050405020304" pitchFamily="18" charset="0"/>
              </a:rPr>
              <a:t>System:Windows</a:t>
            </a:r>
            <a:r>
              <a:rPr lang="en-US" sz="2000" dirty="0">
                <a:latin typeface="Times New Roman" panose="02020603050405020304" pitchFamily="18" charset="0"/>
                <a:cs typeface="Times New Roman" panose="02020603050405020304" pitchFamily="18" charset="0"/>
              </a:rPr>
              <a:t> 10 /11 </a:t>
            </a:r>
          </a:p>
          <a:p>
            <a:pPr marL="0" indent="0">
              <a:buNone/>
            </a:pPr>
            <a:r>
              <a:rPr lang="en-US" sz="2000" dirty="0">
                <a:latin typeface="Times New Roman" panose="02020603050405020304" pitchFamily="18" charset="0"/>
                <a:cs typeface="Times New Roman" panose="02020603050405020304" pitchFamily="18" charset="0"/>
              </a:rPr>
              <a:t>2.Programming </a:t>
            </a:r>
            <a:r>
              <a:rPr lang="en-US" sz="2000" dirty="0" err="1">
                <a:latin typeface="Times New Roman" panose="02020603050405020304" pitchFamily="18" charset="0"/>
                <a:cs typeface="Times New Roman" panose="02020603050405020304" pitchFamily="18" charset="0"/>
              </a:rPr>
              <a:t>Language:Python</a:t>
            </a:r>
            <a:r>
              <a:rPr lang="en-US" sz="2000" dirty="0">
                <a:latin typeface="Times New Roman" panose="02020603050405020304" pitchFamily="18" charset="0"/>
                <a:cs typeface="Times New Roman" panose="02020603050405020304" pitchFamily="18" charset="0"/>
              </a:rPr>
              <a:t> 3</a:t>
            </a:r>
          </a:p>
          <a:p>
            <a:pPr marL="0" indent="0">
              <a:buNone/>
            </a:pPr>
            <a:r>
              <a:rPr lang="en-US" sz="2000" dirty="0">
                <a:latin typeface="Times New Roman" panose="02020603050405020304" pitchFamily="18" charset="0"/>
                <a:cs typeface="Times New Roman" panose="02020603050405020304" pitchFamily="18" charset="0"/>
              </a:rPr>
              <a:t>3.Backend </a:t>
            </a:r>
            <a:r>
              <a:rPr lang="en-US" sz="2000" dirty="0" err="1">
                <a:latin typeface="Times New Roman" panose="02020603050405020304" pitchFamily="18" charset="0"/>
                <a:cs typeface="Times New Roman" panose="02020603050405020304" pitchFamily="18" charset="0"/>
              </a:rPr>
              <a:t>Framework:Flask</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4.Frontend </a:t>
            </a:r>
            <a:r>
              <a:rPr lang="en-US" sz="2000" dirty="0" err="1">
                <a:latin typeface="Times New Roman" panose="02020603050405020304" pitchFamily="18" charset="0"/>
                <a:cs typeface="Times New Roman" panose="02020603050405020304" pitchFamily="18" charset="0"/>
              </a:rPr>
              <a:t>Technologies:HTML,CSS,JavaScript</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5.Database:SQL</a:t>
            </a:r>
          </a:p>
          <a:p>
            <a:pPr marL="0" indent="0">
              <a:buNone/>
            </a:pPr>
            <a:r>
              <a:rPr lang="en-IN" sz="2000" dirty="0">
                <a:latin typeface="Times New Roman" panose="02020603050405020304" pitchFamily="18" charset="0"/>
                <a:cs typeface="Times New Roman" panose="02020603050405020304" pitchFamily="18" charset="0"/>
              </a:rPr>
              <a:t>6.ML Libraries : Scikit-learn , Pandas, NumPy</a:t>
            </a:r>
          </a:p>
          <a:p>
            <a:pPr marL="0" indent="0">
              <a:buNone/>
            </a:pPr>
            <a:r>
              <a:rPr lang="en-IN" sz="2000" dirty="0">
                <a:latin typeface="Times New Roman" panose="02020603050405020304" pitchFamily="18" charset="0"/>
                <a:cs typeface="Times New Roman" panose="02020603050405020304" pitchFamily="18" charset="0"/>
              </a:rPr>
              <a:t>7.IDE:VSCode</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3128696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809D-46DF-C9D9-7E6E-ABD96C4AF182}"/>
              </a:ext>
            </a:extLst>
          </p:cNvPr>
          <p:cNvSpPr>
            <a:spLocks noGrp="1"/>
          </p:cNvSpPr>
          <p:nvPr>
            <p:ph type="title"/>
          </p:nvPr>
        </p:nvSpPr>
        <p:spPr>
          <a:xfrm flipV="1">
            <a:off x="10446588" y="136526"/>
            <a:ext cx="907211" cy="228600"/>
          </a:xfrm>
        </p:spPr>
        <p:txBody>
          <a:bodyPr>
            <a:normAutofit/>
          </a:bodyPr>
          <a:lstStyle/>
          <a:p>
            <a:r>
              <a:rPr lang="en-US" sz="800" dirty="0"/>
              <a:t>.</a:t>
            </a:r>
            <a:endParaRPr lang="en-IN" sz="800" dirty="0"/>
          </a:p>
        </p:txBody>
      </p:sp>
      <p:sp>
        <p:nvSpPr>
          <p:cNvPr id="3" name="Content Placeholder 2">
            <a:extLst>
              <a:ext uri="{FF2B5EF4-FFF2-40B4-BE49-F238E27FC236}">
                <a16:creationId xmlns:a16="http://schemas.microsoft.com/office/drawing/2014/main" id="{768E7363-EF70-DE25-45BB-06B515703552}"/>
              </a:ext>
            </a:extLst>
          </p:cNvPr>
          <p:cNvSpPr>
            <a:spLocks noGrp="1"/>
          </p:cNvSpPr>
          <p:nvPr>
            <p:ph idx="1"/>
          </p:nvPr>
        </p:nvSpPr>
        <p:spPr>
          <a:xfrm>
            <a:off x="838199" y="471278"/>
            <a:ext cx="10515600" cy="4351338"/>
          </a:xfrm>
        </p:spPr>
        <p:txBody>
          <a:bodyPr/>
          <a:lstStyle/>
          <a:p>
            <a:r>
              <a:rPr lang="en-US" sz="2400" dirty="0"/>
              <a:t>Hardware Requirements:</a:t>
            </a:r>
          </a:p>
          <a:p>
            <a:pPr marL="514350" indent="-514350">
              <a:buAutoNum type="arabicPeriod"/>
            </a:pPr>
            <a:r>
              <a:rPr lang="en-IN" sz="2000" dirty="0"/>
              <a:t>System: Laptop / Desktop</a:t>
            </a:r>
          </a:p>
          <a:p>
            <a:pPr marL="514350" indent="-514350">
              <a:buAutoNum type="arabicPeriod"/>
            </a:pPr>
            <a:r>
              <a:rPr lang="en-IN" sz="2000" dirty="0"/>
              <a:t>Processor: Intel i3 / i5 / </a:t>
            </a:r>
            <a:r>
              <a:rPr lang="en-IN" sz="2000" dirty="0" err="1"/>
              <a:t>Ryzen</a:t>
            </a:r>
            <a:r>
              <a:rPr lang="en-IN" sz="2000" dirty="0"/>
              <a:t> 3 or above</a:t>
            </a:r>
          </a:p>
          <a:p>
            <a:pPr marL="514350" indent="-514350">
              <a:buAutoNum type="arabicPeriod"/>
            </a:pPr>
            <a:r>
              <a:rPr lang="en-US" sz="2000" dirty="0"/>
              <a:t>RAM: Minimum 4 GB (8 GB recommended)</a:t>
            </a:r>
          </a:p>
          <a:p>
            <a:pPr marL="514350" indent="-514350">
              <a:buAutoNum type="arabicPeriod"/>
            </a:pPr>
            <a:r>
              <a:rPr lang="en-US" sz="2000" dirty="0"/>
              <a:t>Storage: 10 GB free space</a:t>
            </a:r>
          </a:p>
          <a:p>
            <a:pPr marL="514350" indent="-514350">
              <a:buAutoNum type="arabicPeriod"/>
            </a:pPr>
            <a:r>
              <a:rPr lang="en-US" sz="2000" dirty="0"/>
              <a:t>Internet: Required (for libraries / internship data)</a:t>
            </a:r>
          </a:p>
          <a:p>
            <a:pPr marL="514350" indent="-514350">
              <a:buAutoNum type="arabicPeriod"/>
            </a:pPr>
            <a:r>
              <a:rPr lang="en-IN" sz="2000" dirty="0"/>
              <a:t>Display: Any standard monitor</a:t>
            </a:r>
          </a:p>
        </p:txBody>
      </p:sp>
      <p:sp>
        <p:nvSpPr>
          <p:cNvPr id="4" name="Date Placeholder 3">
            <a:extLst>
              <a:ext uri="{FF2B5EF4-FFF2-40B4-BE49-F238E27FC236}">
                <a16:creationId xmlns:a16="http://schemas.microsoft.com/office/drawing/2014/main" id="{38721833-38D2-39B1-047E-53C86DB835D0}"/>
              </a:ext>
            </a:extLst>
          </p:cNvPr>
          <p:cNvSpPr>
            <a:spLocks noGrp="1"/>
          </p:cNvSpPr>
          <p:nvPr>
            <p:ph type="dt" sz="half" idx="10"/>
          </p:nvPr>
        </p:nvSpPr>
        <p:spPr/>
        <p:txBody>
          <a:bodyPr/>
          <a:lstStyle/>
          <a:p>
            <a:fld id="{864BFFB7-4443-4602-A990-B076C1CFE86C}" type="datetime1">
              <a:rPr lang="en-IN" smtClean="0"/>
              <a:pPr/>
              <a:t>03-02-2026</a:t>
            </a:fld>
            <a:endParaRPr lang="en-IN" dirty="0"/>
          </a:p>
        </p:txBody>
      </p:sp>
      <p:sp>
        <p:nvSpPr>
          <p:cNvPr id="5" name="Slide Number Placeholder 4">
            <a:extLst>
              <a:ext uri="{FF2B5EF4-FFF2-40B4-BE49-F238E27FC236}">
                <a16:creationId xmlns:a16="http://schemas.microsoft.com/office/drawing/2014/main" id="{28B846CF-D476-A4DA-068C-C32A99051191}"/>
              </a:ext>
            </a:extLst>
          </p:cNvPr>
          <p:cNvSpPr>
            <a:spLocks noGrp="1"/>
          </p:cNvSpPr>
          <p:nvPr>
            <p:ph type="sldNum" sz="quarter" idx="12"/>
          </p:nvPr>
        </p:nvSpPr>
        <p:spPr/>
        <p:txBody>
          <a:bodyPr/>
          <a:lstStyle/>
          <a:p>
            <a:fld id="{F32F6845-8F47-4AB8-B9CE-96D88E741707}" type="slidenum">
              <a:rPr lang="en-IN" smtClean="0"/>
              <a:pPr/>
              <a:t>11</a:t>
            </a:fld>
            <a:endParaRPr lang="en-IN" dirty="0"/>
          </a:p>
        </p:txBody>
      </p:sp>
    </p:spTree>
    <p:extLst>
      <p:ext uri="{BB962C8B-B14F-4D97-AF65-F5344CB8AC3E}">
        <p14:creationId xmlns:p14="http://schemas.microsoft.com/office/powerpoint/2010/main" val="355618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Personalized internship recommendations.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Automated resume evaluation.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Saves time and effort.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Improves employability.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Transparent and user-friendly system.</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224665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659BC-4261-D4E2-B386-515C3EFAFE0D}"/>
              </a:ext>
            </a:extLst>
          </p:cNvPr>
          <p:cNvSpPr>
            <a:spLocks noGrp="1"/>
          </p:cNvSpPr>
          <p:nvPr>
            <p:ph type="title"/>
          </p:nvPr>
        </p:nvSpPr>
        <p:spPr>
          <a:xfrm>
            <a:off x="838200" y="365125"/>
            <a:ext cx="10515600" cy="1058233"/>
          </a:xfrm>
        </p:spPr>
        <p:txBody>
          <a:bodyPr>
            <a:normAutofit/>
          </a:bodyPr>
          <a:lstStyle/>
          <a:p>
            <a:r>
              <a:rPr lang="en-US" sz="3200" b="1" dirty="0"/>
              <a:t>Road Map for Project</a:t>
            </a:r>
            <a:endParaRPr lang="en-IN" sz="3200" b="1" dirty="0"/>
          </a:p>
        </p:txBody>
      </p:sp>
      <p:sp>
        <p:nvSpPr>
          <p:cNvPr id="4" name="Date Placeholder 3">
            <a:extLst>
              <a:ext uri="{FF2B5EF4-FFF2-40B4-BE49-F238E27FC236}">
                <a16:creationId xmlns:a16="http://schemas.microsoft.com/office/drawing/2014/main" id="{CED3BAA3-A21F-EE22-0568-AFC66989A89D}"/>
              </a:ext>
            </a:extLst>
          </p:cNvPr>
          <p:cNvSpPr>
            <a:spLocks noGrp="1"/>
          </p:cNvSpPr>
          <p:nvPr>
            <p:ph type="dt" sz="half" idx="10"/>
          </p:nvPr>
        </p:nvSpPr>
        <p:spPr/>
        <p:txBody>
          <a:bodyPr/>
          <a:lstStyle/>
          <a:p>
            <a:fld id="{864BFFB7-4443-4602-A990-B076C1CFE86C}" type="datetime1">
              <a:rPr lang="en-IN" smtClean="0"/>
              <a:pPr/>
              <a:t>03-02-2026</a:t>
            </a:fld>
            <a:endParaRPr lang="en-IN" dirty="0"/>
          </a:p>
        </p:txBody>
      </p:sp>
      <p:sp>
        <p:nvSpPr>
          <p:cNvPr id="5" name="Slide Number Placeholder 4">
            <a:extLst>
              <a:ext uri="{FF2B5EF4-FFF2-40B4-BE49-F238E27FC236}">
                <a16:creationId xmlns:a16="http://schemas.microsoft.com/office/drawing/2014/main" id="{2AB58703-20CB-C163-D5A8-8DB9C038C622}"/>
              </a:ext>
            </a:extLst>
          </p:cNvPr>
          <p:cNvSpPr>
            <a:spLocks noGrp="1"/>
          </p:cNvSpPr>
          <p:nvPr>
            <p:ph type="sldNum" sz="quarter" idx="12"/>
          </p:nvPr>
        </p:nvSpPr>
        <p:spPr/>
        <p:txBody>
          <a:bodyPr/>
          <a:lstStyle/>
          <a:p>
            <a:fld id="{F32F6845-8F47-4AB8-B9CE-96D88E741707}" type="slidenum">
              <a:rPr lang="en-IN" smtClean="0"/>
              <a:pPr/>
              <a:t>13</a:t>
            </a:fld>
            <a:endParaRPr lang="en-IN" dirty="0"/>
          </a:p>
        </p:txBody>
      </p:sp>
      <p:pic>
        <p:nvPicPr>
          <p:cNvPr id="7" name="Content Placeholder 6">
            <a:extLst>
              <a:ext uri="{FF2B5EF4-FFF2-40B4-BE49-F238E27FC236}">
                <a16:creationId xmlns:a16="http://schemas.microsoft.com/office/drawing/2014/main" id="{CA4C191D-C0F5-BCDF-9420-460D76CF75C8}"/>
              </a:ext>
            </a:extLst>
          </p:cNvPr>
          <p:cNvPicPr>
            <a:picLocks noGrp="1" noChangeAspect="1"/>
          </p:cNvPicPr>
          <p:nvPr>
            <p:ph idx="1"/>
          </p:nvPr>
        </p:nvPicPr>
        <p:blipFill>
          <a:blip r:embed="rId2"/>
          <a:stretch>
            <a:fillRect/>
          </a:stretch>
        </p:blipFill>
        <p:spPr>
          <a:xfrm>
            <a:off x="3756429" y="1253331"/>
            <a:ext cx="4351338" cy="4351338"/>
          </a:xfrm>
          <a:prstGeom prst="rect">
            <a:avLst/>
          </a:prstGeom>
        </p:spPr>
      </p:pic>
    </p:spTree>
    <p:extLst>
      <p:ext uri="{BB962C8B-B14F-4D97-AF65-F5344CB8AC3E}">
        <p14:creationId xmlns:p14="http://schemas.microsoft.com/office/powerpoint/2010/main" val="2872169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Chart:</a:t>
            </a:r>
            <a:endParaRPr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D16A6091-C766-20D9-C153-55457CADB823}"/>
              </a:ext>
            </a:extLst>
          </p:cNvPr>
          <p:cNvPicPr>
            <a:picLocks noChangeAspect="1"/>
          </p:cNvPicPr>
          <p:nvPr/>
        </p:nvPicPr>
        <p:blipFill>
          <a:blip r:embed="rId3"/>
          <a:stretch>
            <a:fillRect/>
          </a:stretch>
        </p:blipFill>
        <p:spPr>
          <a:xfrm>
            <a:off x="896233" y="1598988"/>
            <a:ext cx="10415682" cy="4497011"/>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
        <p:nvSpPr>
          <p:cNvPr id="3" name="Content Placeholder 2"/>
          <p:cNvSpPr>
            <a:spLocks noGrp="1"/>
          </p:cNvSpPr>
          <p:nvPr>
            <p:ph idx="1"/>
          </p:nvPr>
        </p:nvSpPr>
        <p:spPr>
          <a:xfrm>
            <a:off x="446308" y="1061297"/>
            <a:ext cx="10515600" cy="4351338"/>
          </a:xfrm>
        </p:spPr>
        <p:txBody>
          <a:body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a:t>
            </a:r>
            <a:r>
              <a:rPr lang="en-US" dirty="0" err="1">
                <a:latin typeface="Cambria" panose="02040503050406030204" pitchFamily="18" charset="0"/>
                <a:ea typeface="Cambria" panose="02040503050406030204" pitchFamily="18" charset="0"/>
              </a:rPr>
              <a:t>Github</a:t>
            </a:r>
            <a:r>
              <a:rPr lang="en-US" dirty="0">
                <a:latin typeface="Cambria" panose="02040503050406030204" pitchFamily="18" charset="0"/>
                <a:ea typeface="Cambria" panose="02040503050406030204" pitchFamily="18" charset="0"/>
              </a:rPr>
              <a:t>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https://github.com/Akula929/AI-based-PM-Internship-Scheme</a:t>
            </a:r>
          </a:p>
          <a:p>
            <a:pPr marL="0" indent="0">
              <a:buNone/>
            </a:pPr>
            <a:endParaRPr lang="en-US" dirty="0"/>
          </a:p>
        </p:txBody>
      </p:sp>
    </p:spTree>
    <p:extLst>
      <p:ext uri="{BB962C8B-B14F-4D97-AF65-F5344CB8AC3E}">
        <p14:creationId xmlns:p14="http://schemas.microsoft.com/office/powerpoint/2010/main" val="295621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16</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7078</TotalTime>
  <Words>1082</Words>
  <Application>Microsoft Office PowerPoint</Application>
  <PresentationFormat>Widescreen</PresentationFormat>
  <Paragraphs>96</Paragraphs>
  <Slides>17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Objectives of the work</vt:lpstr>
      <vt:lpstr>Literature Review</vt:lpstr>
      <vt:lpstr>Proposed System / Work</vt:lpstr>
      <vt:lpstr>Problem Statement</vt:lpstr>
      <vt:lpstr>System Requirements</vt:lpstr>
      <vt:lpstr>.</vt:lpstr>
      <vt:lpstr>Advantages of Proposed System/Work</vt:lpstr>
      <vt:lpstr>Road Map for Project</vt:lpstr>
      <vt:lpstr>Timeline of the Project (Gantt Chart)</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shaikjulfin2004@outlook.com</cp:lastModifiedBy>
  <cp:revision>719</cp:revision>
  <dcterms:created xsi:type="dcterms:W3CDTF">2022-10-14T07:18:17Z</dcterms:created>
  <dcterms:modified xsi:type="dcterms:W3CDTF">2026-02-03T04:28:05Z</dcterms:modified>
</cp:coreProperties>
</file>